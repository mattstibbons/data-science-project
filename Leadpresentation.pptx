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A2"/>
    <a:srgbClr val="FDEADA"/>
    <a:srgbClr val="C00000"/>
    <a:srgbClr val="E6B9B8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0A36E5-4EF2-4256-BFAA-65EFEFECC346}" v="505" dt="2026-05-07T09:17:56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333" autoAdjust="0"/>
  </p:normalViewPr>
  <p:slideViewPr>
    <p:cSldViewPr>
      <p:cViewPr varScale="1">
        <p:scale>
          <a:sx n="91" d="100"/>
          <a:sy n="91" d="100"/>
        </p:scale>
        <p:origin x="859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Stibbons" userId="ee5ab90a-f6ef-4568-8d06-d738e61cdbd9" providerId="ADAL" clId="{256339C9-532D-4AF2-9813-51A8F91FCD55}"/>
    <pc:docChg chg="undo custSel modSld">
      <pc:chgData name="Matthew Stibbons" userId="ee5ab90a-f6ef-4568-8d06-d738e61cdbd9" providerId="ADAL" clId="{256339C9-532D-4AF2-9813-51A8F91FCD55}" dt="2026-05-07T09:20:20.969" v="1059" actId="20577"/>
      <pc:docMkLst>
        <pc:docMk/>
      </pc:docMkLst>
      <pc:sldChg chg="modSp mod">
        <pc:chgData name="Matthew Stibbons" userId="ee5ab90a-f6ef-4568-8d06-d738e61cdbd9" providerId="ADAL" clId="{256339C9-532D-4AF2-9813-51A8F91FCD55}" dt="2026-05-07T09:19:41.783" v="1029" actId="1076"/>
        <pc:sldMkLst>
          <pc:docMk/>
          <pc:sldMk cId="0" sldId="256"/>
        </pc:sldMkLst>
        <pc:spChg chg="mod">
          <ac:chgData name="Matthew Stibbons" userId="ee5ab90a-f6ef-4568-8d06-d738e61cdbd9" providerId="ADAL" clId="{256339C9-532D-4AF2-9813-51A8F91FCD55}" dt="2026-05-07T09:19:41.783" v="1029" actId="1076"/>
          <ac:spMkLst>
            <pc:docMk/>
            <pc:sldMk cId="0" sldId="256"/>
            <ac:spMk id="3" creationId="{00000000-0000-0000-0000-000000000000}"/>
          </ac:spMkLst>
        </pc:spChg>
      </pc:sldChg>
      <pc:sldChg chg="delSp modSp mod">
        <pc:chgData name="Matthew Stibbons" userId="ee5ab90a-f6ef-4568-8d06-d738e61cdbd9" providerId="ADAL" clId="{256339C9-532D-4AF2-9813-51A8F91FCD55}" dt="2026-05-07T08:52:18.393" v="53" actId="20577"/>
        <pc:sldMkLst>
          <pc:docMk/>
          <pc:sldMk cId="0" sldId="257"/>
        </pc:sldMkLst>
        <pc:spChg chg="del">
          <ac:chgData name="Matthew Stibbons" userId="ee5ab90a-f6ef-4568-8d06-d738e61cdbd9" providerId="ADAL" clId="{256339C9-532D-4AF2-9813-51A8F91FCD55}" dt="2026-05-07T08:48:17.016" v="1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50:46.946" v="44" actId="20577"/>
          <ac:spMkLst>
            <pc:docMk/>
            <pc:sldMk cId="0" sldId="257"/>
            <ac:spMk id="7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8:14.293" v="0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51:32.799" v="4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52:18.393" v="53" actId="20577"/>
          <ac:spMkLst>
            <pc:docMk/>
            <pc:sldMk cId="0" sldId="257"/>
            <ac:spMk id="13" creationId="{00000000-0000-0000-0000-000000000000}"/>
          </ac:spMkLst>
        </pc:spChg>
      </pc:sldChg>
      <pc:sldChg chg="addSp delSp modSp mod">
        <pc:chgData name="Matthew Stibbons" userId="ee5ab90a-f6ef-4568-8d06-d738e61cdbd9" providerId="ADAL" clId="{256339C9-532D-4AF2-9813-51A8F91FCD55}" dt="2026-05-07T09:20:20.969" v="1059" actId="20577"/>
        <pc:sldMkLst>
          <pc:docMk/>
          <pc:sldMk cId="0" sldId="258"/>
        </pc:sldMkLst>
        <pc:spChg chg="mod">
          <ac:chgData name="Matthew Stibbons" userId="ee5ab90a-f6ef-4568-8d06-d738e61cdbd9" providerId="ADAL" clId="{256339C9-532D-4AF2-9813-51A8F91FCD55}" dt="2026-05-07T08:53:03.089" v="56" actId="20577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Matthew Stibbons" userId="ee5ab90a-f6ef-4568-8d06-d738e61cdbd9" providerId="ADAL" clId="{256339C9-532D-4AF2-9813-51A8F91FCD55}" dt="2026-05-07T09:03:57.142" v="563" actId="20577"/>
          <ac:spMkLst>
            <pc:docMk/>
            <pc:sldMk cId="0" sldId="258"/>
            <ac:spMk id="3" creationId="{ED084BD7-B346-21DC-63AF-1041E5837049}"/>
          </ac:spMkLst>
        </pc:spChg>
        <pc:spChg chg="mod">
          <ac:chgData name="Matthew Stibbons" userId="ee5ab90a-f6ef-4568-8d06-d738e61cdbd9" providerId="ADAL" clId="{256339C9-532D-4AF2-9813-51A8F91FCD55}" dt="2026-05-07T08:48:44.638" v="7" actId="208"/>
          <ac:spMkLst>
            <pc:docMk/>
            <pc:sldMk cId="0" sldId="258"/>
            <ac:spMk id="5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8:22.324" v="2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52:33.421" v="54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48:48.280" v="8" actId="20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8:24.298" v="3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9:20:20.969" v="105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48:53.241" v="9" actId="20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8:25.919" v="4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9:05:05.179" v="575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57:58.945" v="168" actId="20577"/>
          <ac:spMkLst>
            <pc:docMk/>
            <pc:sldMk cId="0" sldId="258"/>
            <ac:spMk id="20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8:28.289" v="5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8:49:56.959" v="28" actId="20577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Matthew Stibbons" userId="ee5ab90a-f6ef-4568-8d06-d738e61cdbd9" providerId="ADAL" clId="{256339C9-532D-4AF2-9813-51A8F91FCD55}" dt="2026-05-07T09:04:49.043" v="570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9:28.195" v="14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9:25.996" v="13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8:49:22.781" v="12" actId="478"/>
          <ac:spMkLst>
            <pc:docMk/>
            <pc:sldMk cId="0" sldId="258"/>
            <ac:spMk id="26" creationId="{00000000-0000-0000-0000-000000000000}"/>
          </ac:spMkLst>
        </pc:spChg>
      </pc:sldChg>
      <pc:sldChg chg="addSp delSp modSp mod">
        <pc:chgData name="Matthew Stibbons" userId="ee5ab90a-f6ef-4568-8d06-d738e61cdbd9" providerId="ADAL" clId="{256339C9-532D-4AF2-9813-51A8F91FCD55}" dt="2026-05-07T09:18:12.773" v="1002" actId="1076"/>
        <pc:sldMkLst>
          <pc:docMk/>
          <pc:sldMk cId="0" sldId="259"/>
        </pc:sldMkLst>
        <pc:spChg chg="add del mod">
          <ac:chgData name="Matthew Stibbons" userId="ee5ab90a-f6ef-4568-8d06-d738e61cdbd9" providerId="ADAL" clId="{256339C9-532D-4AF2-9813-51A8F91FCD55}" dt="2026-05-07T09:07:11.935" v="60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44.022" v="59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45.368" v="594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46.977" v="595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48.604" v="596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51.205" v="597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53.360" v="598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3.674" v="610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4.696" v="611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55.400" v="599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04.016" v="605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6:56.796" v="600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Matthew Stibbons" userId="ee5ab90a-f6ef-4568-8d06-d738e61cdbd9" providerId="ADAL" clId="{256339C9-532D-4AF2-9813-51A8F91FCD55}" dt="2026-05-07T09:06:59.107" v="602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01.533" v="603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02.896" v="604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27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30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07:19.656" v="612" actId="478"/>
          <ac:spMkLst>
            <pc:docMk/>
            <pc:sldMk cId="0" sldId="259"/>
            <ac:spMk id="32" creationId="{00000000-0000-0000-0000-000000000000}"/>
          </ac:spMkLst>
        </pc:spChg>
        <pc:spChg chg="add del mod">
          <ac:chgData name="Matthew Stibbons" userId="ee5ab90a-f6ef-4568-8d06-d738e61cdbd9" providerId="ADAL" clId="{256339C9-532D-4AF2-9813-51A8F91FCD55}" dt="2026-05-07T09:07:08.634" v="608" actId="21"/>
          <ac:spMkLst>
            <pc:docMk/>
            <pc:sldMk cId="0" sldId="259"/>
            <ac:spMk id="34" creationId="{BB87277C-25A2-46F1-5ADF-6E7581CFE34B}"/>
          </ac:spMkLst>
        </pc:spChg>
        <pc:spChg chg="add mod">
          <ac:chgData name="Matthew Stibbons" userId="ee5ab90a-f6ef-4568-8d06-d738e61cdbd9" providerId="ADAL" clId="{256339C9-532D-4AF2-9813-51A8F91FCD55}" dt="2026-05-07T09:17:18.209" v="996" actId="20577"/>
          <ac:spMkLst>
            <pc:docMk/>
            <pc:sldMk cId="0" sldId="259"/>
            <ac:spMk id="42" creationId="{907DA32B-872B-2D3E-8FB0-4EB130F4F769}"/>
          </ac:spMkLst>
        </pc:spChg>
        <pc:graphicFrameChg chg="add del mod modGraphic">
          <ac:chgData name="Matthew Stibbons" userId="ee5ab90a-f6ef-4568-8d06-d738e61cdbd9" providerId="ADAL" clId="{256339C9-532D-4AF2-9813-51A8F91FCD55}" dt="2026-05-07T09:14:34.939" v="757" actId="478"/>
          <ac:graphicFrameMkLst>
            <pc:docMk/>
            <pc:sldMk cId="0" sldId="259"/>
            <ac:graphicFrameMk id="37" creationId="{174D6414-38D5-A4A1-F55F-96900988C997}"/>
          </ac:graphicFrameMkLst>
        </pc:graphicFrameChg>
        <pc:graphicFrameChg chg="add">
          <ac:chgData name="Matthew Stibbons" userId="ee5ab90a-f6ef-4568-8d06-d738e61cdbd9" providerId="ADAL" clId="{256339C9-532D-4AF2-9813-51A8F91FCD55}" dt="2026-05-07T09:11:45.564" v="746"/>
          <ac:graphicFrameMkLst>
            <pc:docMk/>
            <pc:sldMk cId="0" sldId="259"/>
            <ac:graphicFrameMk id="38" creationId="{FDFBC3C3-3F07-3C08-DEC8-B1E67874A98C}"/>
          </ac:graphicFrameMkLst>
        </pc:graphicFrameChg>
        <pc:graphicFrameChg chg="add del mod">
          <ac:chgData name="Matthew Stibbons" userId="ee5ab90a-f6ef-4568-8d06-d738e61cdbd9" providerId="ADAL" clId="{256339C9-532D-4AF2-9813-51A8F91FCD55}" dt="2026-05-07T09:14:16.960" v="753" actId="478"/>
          <ac:graphicFrameMkLst>
            <pc:docMk/>
            <pc:sldMk cId="0" sldId="259"/>
            <ac:graphicFrameMk id="39" creationId="{4A6CAB13-16E7-FA94-B383-6B91D8A5183D}"/>
          </ac:graphicFrameMkLst>
        </pc:graphicFrameChg>
        <pc:graphicFrameChg chg="add mod modGraphic">
          <ac:chgData name="Matthew Stibbons" userId="ee5ab90a-f6ef-4568-8d06-d738e61cdbd9" providerId="ADAL" clId="{256339C9-532D-4AF2-9813-51A8F91FCD55}" dt="2026-05-07T09:18:12.773" v="1002" actId="1076"/>
          <ac:graphicFrameMkLst>
            <pc:docMk/>
            <pc:sldMk cId="0" sldId="259"/>
            <ac:graphicFrameMk id="40" creationId="{668CD1C1-14CC-0728-9B9A-8BB080952080}"/>
          </ac:graphicFrameMkLst>
        </pc:graphicFrameChg>
        <pc:picChg chg="add mod">
          <ac:chgData name="Matthew Stibbons" userId="ee5ab90a-f6ef-4568-8d06-d738e61cdbd9" providerId="ADAL" clId="{256339C9-532D-4AF2-9813-51A8F91FCD55}" dt="2026-05-07T09:17:22.031" v="997" actId="14100"/>
          <ac:picMkLst>
            <pc:docMk/>
            <pc:sldMk cId="0" sldId="259"/>
            <ac:picMk id="36" creationId="{A857948D-13FC-EAFE-8DB3-28A8F1A37A90}"/>
          </ac:picMkLst>
        </pc:picChg>
      </pc:sldChg>
      <pc:sldChg chg="addSp delSp modSp mod">
        <pc:chgData name="Matthew Stibbons" userId="ee5ab90a-f6ef-4568-8d06-d738e61cdbd9" providerId="ADAL" clId="{256339C9-532D-4AF2-9813-51A8F91FCD55}" dt="2026-05-07T09:18:59.572" v="1023" actId="20577"/>
        <pc:sldMkLst>
          <pc:docMk/>
          <pc:sldMk cId="0" sldId="260"/>
        </pc:sldMkLst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34" creationId="{00000000-0000-0000-0000-000000000000}"/>
          </ac:spMkLst>
        </pc:spChg>
        <pc:spChg chg="del">
          <ac:chgData name="Matthew Stibbons" userId="ee5ab90a-f6ef-4568-8d06-d738e61cdbd9" providerId="ADAL" clId="{256339C9-532D-4AF2-9813-51A8F91FCD55}" dt="2026-05-07T09:17:55.361" v="998" actId="478"/>
          <ac:spMkLst>
            <pc:docMk/>
            <pc:sldMk cId="0" sldId="260"/>
            <ac:spMk id="38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9:18:48.545" v="1017" actId="5793"/>
          <ac:spMkLst>
            <pc:docMk/>
            <pc:sldMk cId="0" sldId="260"/>
            <ac:spMk id="42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9:18:59.572" v="1023" actId="20577"/>
          <ac:spMkLst>
            <pc:docMk/>
            <pc:sldMk cId="0" sldId="260"/>
            <ac:spMk id="48" creationId="{00000000-0000-0000-0000-000000000000}"/>
          </ac:spMkLst>
        </pc:spChg>
        <pc:spChg chg="mod">
          <ac:chgData name="Matthew Stibbons" userId="ee5ab90a-f6ef-4568-8d06-d738e61cdbd9" providerId="ADAL" clId="{256339C9-532D-4AF2-9813-51A8F91FCD55}" dt="2026-05-07T09:18:30.255" v="1007" actId="20577"/>
          <ac:spMkLst>
            <pc:docMk/>
            <pc:sldMk cId="0" sldId="260"/>
            <ac:spMk id="50" creationId="{00000000-0000-0000-0000-000000000000}"/>
          </ac:spMkLst>
        </pc:spChg>
        <pc:graphicFrameChg chg="add mod">
          <ac:chgData name="Matthew Stibbons" userId="ee5ab90a-f6ef-4568-8d06-d738e61cdbd9" providerId="ADAL" clId="{256339C9-532D-4AF2-9813-51A8F91FCD55}" dt="2026-05-07T09:18:00.681" v="1000" actId="1076"/>
          <ac:graphicFrameMkLst>
            <pc:docMk/>
            <pc:sldMk cId="0" sldId="260"/>
            <ac:graphicFrameMk id="3" creationId="{7C0A62FA-1CF1-68AE-76B3-78D024E6BDE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9D220-9986-1645-993A-1DADAE0CC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78E09-E4CC-E646-A8E2-42364C70E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756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99CDA-54DB-42F8-BC0E-B5BB74442020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18C0E-EBC0-4363-B866-4FBE8A16C4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961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 Title Slide">
    <p:bg>
      <p:bgPr>
        <a:solidFill>
          <a:srgbClr val="5D29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8E4AFA-0C8C-9540-AEFD-8CE9FF2C2B60}"/>
              </a:ext>
            </a:extLst>
          </p:cNvPr>
          <p:cNvSpPr/>
          <p:nvPr userDrawn="1"/>
        </p:nvSpPr>
        <p:spPr>
          <a:xfrm>
            <a:off x="609600" y="332657"/>
            <a:ext cx="2174032" cy="1080219"/>
          </a:xfrm>
          <a:prstGeom prst="rect">
            <a:avLst/>
          </a:prstGeom>
          <a:solidFill>
            <a:srgbClr val="5D2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984" y="2132301"/>
            <a:ext cx="10716717" cy="1470025"/>
          </a:xfr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3888073"/>
            <a:ext cx="8897540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5360" y="6430232"/>
            <a:ext cx="2916808" cy="365125"/>
          </a:xfrm>
        </p:spPr>
        <p:txBody>
          <a:bodyPr/>
          <a:lstStyle>
            <a:lvl1pPr>
              <a:defRPr/>
            </a:lvl1pPr>
          </a:lstStyle>
          <a:p>
            <a:fld id="{054A59CF-1219-224B-8A92-B2D4529B7F28}" type="datetime1">
              <a:rPr lang="en-GB" smtClean="0"/>
              <a:t>07/05/2026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D8A0A-4898-40BF-9009-4DA7E611EAC1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5F806C-12F6-4E44-8704-B6F78D76F7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362" y="337984"/>
            <a:ext cx="1655343" cy="70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6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817" y="341786"/>
            <a:ext cx="11506799" cy="1128839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695778"/>
            <a:ext cx="11521280" cy="4497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5361" y="6428360"/>
            <a:ext cx="3207940" cy="365125"/>
          </a:xfrm>
        </p:spPr>
        <p:txBody>
          <a:bodyPr/>
          <a:lstStyle>
            <a:lvl1pPr>
              <a:defRPr/>
            </a:lvl1pPr>
          </a:lstStyle>
          <a:p>
            <a:fld id="{B7E85005-BBB6-0D4C-9C56-8744D5466F82}" type="datetime1">
              <a:rPr lang="en-GB" smtClean="0"/>
              <a:t>07/05/2026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039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817" y="341786"/>
            <a:ext cx="11506799" cy="1128839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695778"/>
            <a:ext cx="11521280" cy="4497364"/>
          </a:xfrm>
        </p:spPr>
        <p:txBody>
          <a:bodyPr wrap="square" numCol="2" spcCol="180000"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5361" y="6428360"/>
            <a:ext cx="3207940" cy="365125"/>
          </a:xfrm>
        </p:spPr>
        <p:txBody>
          <a:bodyPr/>
          <a:lstStyle>
            <a:lvl1pPr>
              <a:defRPr/>
            </a:lvl1pPr>
          </a:lstStyle>
          <a:p>
            <a:fld id="{CE3CD57E-8B71-A947-82A2-F7215D4D2F9E}" type="datetime1">
              <a:rPr lang="en-GB" smtClean="0"/>
              <a:t>07/05/2026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0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816" y="341786"/>
            <a:ext cx="11520824" cy="1128839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5361" y="6428360"/>
            <a:ext cx="3207940" cy="365125"/>
          </a:xfrm>
        </p:spPr>
        <p:txBody>
          <a:bodyPr/>
          <a:lstStyle>
            <a:lvl1pPr>
              <a:defRPr/>
            </a:lvl1pPr>
          </a:lstStyle>
          <a:p>
            <a:fld id="{62E13131-33A4-5D4A-9636-BD672098C667}" type="datetime1">
              <a:rPr lang="en-GB" smtClean="0"/>
              <a:t>07/05/2026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868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bg>
      <p:bgPr>
        <a:solidFill>
          <a:srgbClr val="E2E0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817" y="341786"/>
            <a:ext cx="11506799" cy="1128839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695778"/>
            <a:ext cx="11521280" cy="4497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35361" y="6428360"/>
            <a:ext cx="3207940" cy="365125"/>
          </a:xfrm>
        </p:spPr>
        <p:txBody>
          <a:bodyPr/>
          <a:lstStyle>
            <a:lvl1pPr>
              <a:defRPr/>
            </a:lvl1pPr>
          </a:lstStyle>
          <a:p>
            <a:fld id="{B8B8B81A-08F9-9B40-810E-1DF2F2F8008B}" type="datetime1">
              <a:rPr lang="en-GB" smtClean="0"/>
              <a:t>07/05/2026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810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35360" y="332656"/>
            <a:ext cx="1152128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5360" y="1700810"/>
            <a:ext cx="11521280" cy="449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360" y="6428360"/>
            <a:ext cx="2844800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E9CC6D-AE55-494B-BC13-4E322F82A3AD}" type="datetime1">
              <a:rPr lang="en-GB" smtClean="0"/>
              <a:t>07/05/2026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708" y="6428360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11840" y="6428360"/>
            <a:ext cx="2844800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89898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6878614-5F41-4702-8E44-D9C8B2874F5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14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891" indent="-342891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32" indent="-285744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971" indent="-228594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160" indent="-228594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349" indent="-228594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600" b="1" i="0">
                <a:solidFill>
                  <a:srgbClr val="FFFFFF"/>
                </a:solidFill>
              </a:rPr>
              <a:t>Clearing the Air</a:t>
            </a:r>
          </a:p>
          <a:p>
            <a:pPr>
              <a:spcBef>
                <a:spcPts val="600"/>
              </a:spcBef>
            </a:pPr>
            <a:r>
              <a:rPr sz="2200" b="0" i="0">
                <a:solidFill>
                  <a:srgbClr val="FFFFFF"/>
                </a:solidFill>
              </a:rPr>
              <a:t>Evaluating the Impact of Leaded Fuel Bans on</a:t>
            </a:r>
          </a:p>
          <a:p>
            <a:r>
              <a:rPr sz="2200" b="0" i="0">
                <a:solidFill>
                  <a:srgbClr val="FFFFFF"/>
                </a:solidFill>
              </a:rPr>
              <a:t>Ambient Lead Levels at Reid-Hillview Airport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984" y="4509120"/>
            <a:ext cx="8897540" cy="1752600"/>
          </a:xfrm>
        </p:spPr>
        <p:txBody>
          <a:bodyPr wrap="square"/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ECON62020  </a:t>
            </a:r>
            <a:endParaRPr lang="en-US" sz="1600" b="1" i="0" dirty="0">
              <a:solidFill>
                <a:srgbClr val="FFFFFF"/>
              </a:solidFill>
            </a:endParaRPr>
          </a:p>
          <a:p>
            <a:pPr algn="l"/>
            <a:r>
              <a:rPr sz="1600" b="1" i="0" dirty="0">
                <a:solidFill>
                  <a:srgbClr val="FFFFFF"/>
                </a:solidFill>
              </a:rPr>
              <a:t>Group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>
                <a:solidFill>
                  <a:srgbClr val="660099"/>
                </a:solidFill>
              </a:rPr>
              <a:t>Motivation &amp; Research Question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dirty="0">
                <a:solidFill>
                  <a:srgbClr val="660099"/>
                </a:solidFill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303520" cy="2699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Lead is a developmental neurotoxin with no safe exposure level (CDC, 2021).</a:t>
            </a:r>
            <a:endParaRPr lang="en-US" sz="1300" b="0" i="0" dirty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endParaRPr lang="en-US" sz="1300" b="0" i="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Leaded avgas (100LL) is the largest remaining source of airborne Pb in the U.S. (EPA, 2022).</a:t>
            </a:r>
            <a:endParaRPr lang="en-US" sz="1300" b="0" i="0" dirty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endParaRPr lang="en-US" sz="1300" b="0" i="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Reid-Hillview (RHV), San Jose, became the </a:t>
            </a:r>
            <a:r>
              <a:rPr sz="1300" b="1" i="0" dirty="0">
                <a:solidFill>
                  <a:srgbClr val="4A006E"/>
                </a:solidFill>
              </a:rPr>
              <a:t>first U.S. GA airport to ban leaded fuel</a:t>
            </a:r>
            <a:r>
              <a:rPr sz="1300" b="0" i="0" dirty="0">
                <a:solidFill>
                  <a:srgbClr val="333333"/>
                </a:solidFill>
              </a:rPr>
              <a:t> (Jan 2022).</a:t>
            </a:r>
            <a:endParaRPr lang="en-US" sz="1300" b="0" i="0" dirty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endParaRPr lang="en-US" sz="1300" b="0" i="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333333"/>
                </a:solidFill>
              </a:rPr>
              <a:t>Hollingsworth &amp; Rudik (2021) showed Pb travels up to 4km from airports  our radius choice.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91640"/>
            <a:ext cx="5715000" cy="4206240"/>
          </a:xfrm>
          <a:prstGeom prst="rect">
            <a:avLst/>
          </a:prstGeom>
          <a:solidFill>
            <a:srgbClr val="F5F1F8"/>
          </a:solidFill>
          <a:ln w="127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5257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60099"/>
                </a:solidFill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25780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 i="0" dirty="0">
                <a:solidFill>
                  <a:srgbClr val="1A1A1A"/>
                </a:solidFill>
              </a:rPr>
              <a:t>Did the 2022 leaded-fuel ban at Reid-Hillview reduce ambient lead concentrations, relative to non-banning U.S. airports?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86200"/>
            <a:ext cx="5257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i="0">
                <a:solidFill>
                  <a:srgbClr val="660099"/>
                </a:solidFill>
              </a:rPr>
              <a:t>SUB-QUESTIONS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52578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 dirty="0">
                <a:solidFill>
                  <a:srgbClr val="333333"/>
                </a:solidFill>
              </a:rPr>
              <a:t>•  Is the effect robust to monitor radius (1, </a:t>
            </a:r>
            <a:r>
              <a:rPr lang="en-US" sz="1200" b="0" i="0" dirty="0">
                <a:solidFill>
                  <a:srgbClr val="333333"/>
                </a:solidFill>
              </a:rPr>
              <a:t>2, </a:t>
            </a:r>
            <a:r>
              <a:rPr sz="1200" b="0" i="0" dirty="0">
                <a:solidFill>
                  <a:srgbClr val="333333"/>
                </a:solidFill>
              </a:rPr>
              <a:t>3, 4 km)?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 dirty="0">
                <a:solidFill>
                  <a:srgbClr val="660099"/>
                </a:solidFill>
              </a:rPr>
              <a:t>Data &amp; Identification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8328" y="1645920"/>
            <a:ext cx="3716528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5488" y="1783080"/>
            <a:ext cx="3442208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>
                <a:solidFill>
                  <a:srgbClr val="660099"/>
                </a:solidFill>
              </a:rPr>
              <a:t>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57400"/>
            <a:ext cx="34422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 i="0">
                <a:solidFill>
                  <a:srgbClr val="1A1A1A"/>
                </a:solidFill>
              </a:rPr>
              <a:t>EPA AQS Pb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23160"/>
            <a:ext cx="3442208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</a:rPr>
              <a:t>Daily lead concentrations at U.S. monitors near airports. 2012–2025. Aggregated to monthly means.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736" y="1645920"/>
            <a:ext cx="3716528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4896" y="1783080"/>
            <a:ext cx="3442208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>
                <a:solidFill>
                  <a:srgbClr val="660099"/>
                </a:solidFill>
              </a:rPr>
              <a:t>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4896" y="2057400"/>
            <a:ext cx="34422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 i="0">
                <a:solidFill>
                  <a:srgbClr val="1A1A1A"/>
                </a:solidFill>
              </a:rPr>
              <a:t>RHV ban (Jan 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4896" y="2366676"/>
            <a:ext cx="3442208" cy="8833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333333"/>
                </a:solidFill>
              </a:rPr>
              <a:t>Reid-Hillview</a:t>
            </a:r>
            <a:r>
              <a:rPr lang="en-US" sz="1100" b="0" i="0" dirty="0">
                <a:solidFill>
                  <a:srgbClr val="333333"/>
                </a:solidFill>
              </a:rPr>
              <a:t>. </a:t>
            </a:r>
            <a:r>
              <a:rPr sz="1100" b="0" i="0" dirty="0">
                <a:solidFill>
                  <a:srgbClr val="333333"/>
                </a:solidFill>
              </a:rPr>
              <a:t>All other U.S.  airports with monitor coverage form the </a:t>
            </a:r>
            <a:r>
              <a:rPr lang="en-US" sz="1100" b="0" i="0" dirty="0">
                <a:solidFill>
                  <a:srgbClr val="333333"/>
                </a:solidFill>
              </a:rPr>
              <a:t>pool of potential controls</a:t>
            </a:r>
            <a:endParaRPr lang="en-US" sz="11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Only 3 monitors within 1km of airports have continuous 2000–2025 data -&gt;  no clean control group.</a:t>
            </a:r>
          </a:p>
          <a:p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37144" y="1645920"/>
            <a:ext cx="3716528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4304" y="1783080"/>
            <a:ext cx="3442208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900" b="1" i="0">
                <a:solidFill>
                  <a:srgbClr val="660099"/>
                </a:solidFill>
              </a:rPr>
              <a:t>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4304" y="2057400"/>
            <a:ext cx="34422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 i="0">
                <a:solidFill>
                  <a:srgbClr val="1A1A1A"/>
                </a:solidFill>
              </a:rPr>
              <a:t>NCEP Reanalysis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304" y="2341599"/>
            <a:ext cx="3442208" cy="54476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</a:rPr>
              <a:t>Daily air temp, wind speed, humidity, pressure (sigma 995). Spatial join to monitors.</a:t>
            </a:r>
            <a:r>
              <a:rPr lang="en-US" sz="1100" b="0" i="0" dirty="0">
                <a:solidFill>
                  <a:srgbClr val="333333"/>
                </a:solidFill>
              </a:rPr>
              <a:t> </a:t>
            </a:r>
          </a:p>
          <a:p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11515344" cy="2834640"/>
          </a:xfrm>
          <a:prstGeom prst="rect">
            <a:avLst/>
          </a:prstGeom>
          <a:solidFill>
            <a:srgbClr val="F5F1F8"/>
          </a:solidFill>
          <a:ln w="127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 lang="en-US" b="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3520440"/>
            <a:ext cx="548640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 dirty="0">
                <a:solidFill>
                  <a:srgbClr val="660099"/>
                </a:solidFill>
              </a:rPr>
              <a:t>IDENTIFICATION </a:t>
            </a:r>
            <a:r>
              <a:rPr lang="en-US" sz="1100" b="1" dirty="0">
                <a:solidFill>
                  <a:srgbClr val="660099"/>
                </a:solidFill>
              </a:rPr>
              <a:t>STRATEGY</a:t>
            </a:r>
            <a:endParaRPr sz="1100" b="1" i="0" dirty="0">
              <a:solidFill>
                <a:srgbClr val="66009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084BD7-B346-21DC-63AF-1041E5837049}"/>
                  </a:ext>
                </a:extLst>
              </p:cNvPr>
              <p:cNvSpPr txBox="1"/>
              <p:nvPr/>
            </p:nvSpPr>
            <p:spPr>
              <a:xfrm>
                <a:off x="767408" y="3822184"/>
                <a:ext cx="1029714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𝐿𝑒𝑎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𝑇𝑟𝑒𝑎𝑡𝑒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:r>
                  <a:rPr lang="en-US" dirty="0"/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𝐿𝑒𝑎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𝑖𝑡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GB" dirty="0"/>
                  <a:t>is the log of the arithmetic mean of ambient lead concentration at monitor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𝑇𝑟𝑒𝑎𝑡𝑒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GB" dirty="0"/>
                  <a:t> is a dummy =1 if monitor is Reid Hillview and date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dirty="0"/>
                  <a:t> 2022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GB" dirty="0"/>
                  <a:t> is a vector of weather controls: Temperature, Wind Speed and direction, Humidity, Pressure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are monitor fixed effects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captures time fixed effects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084BD7-B346-21DC-63AF-1041E583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3822184"/>
                <a:ext cx="10297144" cy="2862322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257" y="350426"/>
            <a:ext cx="11506799" cy="1128839"/>
          </a:xfrm>
        </p:spPr>
        <p:txBody>
          <a:bodyPr wrap="square"/>
          <a:lstStyle/>
          <a:p>
            <a:r>
              <a:rPr sz="2800" b="1" i="0" dirty="0">
                <a:solidFill>
                  <a:srgbClr val="660099"/>
                </a:solidFill>
              </a:rPr>
              <a:t>Results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857948D-13FC-EAFE-8DB3-28A8F1A37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648" y="1340769"/>
            <a:ext cx="5360297" cy="4320480"/>
          </a:xfrm>
          <a:prstGeom prst="rect">
            <a:avLst/>
          </a:prstGeom>
        </p:spPr>
      </p:pic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68CD1C1-14CC-0728-9B9A-8BB08095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66750"/>
              </p:ext>
            </p:extLst>
          </p:nvPr>
        </p:nvGraphicFramePr>
        <p:xfrm>
          <a:off x="675313" y="2559337"/>
          <a:ext cx="4988640" cy="1010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62880">
                  <a:extLst>
                    <a:ext uri="{9D8B030D-6E8A-4147-A177-3AD203B41FA5}">
                      <a16:colId xmlns:a16="http://schemas.microsoft.com/office/drawing/2014/main" val="357104987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2295857429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392463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Estimate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 of Controls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33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Airports only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704262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07DA32B-872B-2D3E-8FB0-4EB130F4F769}"/>
              </a:ext>
            </a:extLst>
          </p:cNvPr>
          <p:cNvSpPr txBox="1"/>
          <p:nvPr/>
        </p:nvSpPr>
        <p:spPr>
          <a:xfrm>
            <a:off x="121633" y="55172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</a:rPr>
              <a:t>Note: 0-1km refers to the specification for which only monitors within a 1km radius of an airport were used in the control group 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 i="0">
                <a:solidFill>
                  <a:srgbClr val="660099"/>
                </a:solidFill>
              </a:rPr>
              <a:t>Robustness, Takeaways &amp; Q&amp;A</a:t>
            </a:r>
          </a:p>
        </p:txBody>
      </p:sp>
      <p:pic>
        <p:nvPicPr>
          <p:cNvPr id="4" name="Picture 3" descr="u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325880" cy="38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8328" y="16459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60099"/>
                </a:solidFill>
              </a:rPr>
              <a:t>ROBUSTNESS — RADIUS SENSITIVITY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164592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60099"/>
                </a:solidFill>
              </a:rPr>
              <a:t>TAKEAWAYS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011680"/>
            <a:ext cx="54864" cy="9601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9631" y="201168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Method that fits the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1" y="2304288"/>
            <a:ext cx="56235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……</a:t>
            </a:r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35040" y="3108960"/>
            <a:ext cx="54864" cy="9601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99631" y="310896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First evidence on a 100LL ban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1" y="3401568"/>
            <a:ext cx="562356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 i="0" dirty="0">
                <a:solidFill>
                  <a:srgbClr val="333333"/>
                </a:solidFill>
              </a:rPr>
              <a:t>Quantifies what a real-world leaded-fuel ban delivers in ambient Pb — informing FAA’s 2030 phase-out.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206240"/>
            <a:ext cx="54864" cy="9601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9631" y="420624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1A1A1A"/>
                </a:solidFill>
              </a:rPr>
              <a:t>Honest about 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4498848"/>
            <a:ext cx="5623560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en-US" sz="1100" b="0" i="0" dirty="0">
                <a:solidFill>
                  <a:srgbClr val="333333"/>
                </a:solidFill>
              </a:rPr>
              <a:t>…..</a:t>
            </a:r>
            <a:r>
              <a:rPr sz="110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" y="5577840"/>
            <a:ext cx="11515344" cy="64008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bIns="54864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328" y="5696712"/>
            <a:ext cx="11515344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</a:rPr>
              <a:t>Any </a:t>
            </a:r>
            <a:r>
              <a:rPr sz="2200" b="1" i="0" dirty="0">
                <a:solidFill>
                  <a:srgbClr val="FFFFFF"/>
                </a:solidFill>
              </a:rPr>
              <a:t>Questions?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A62FA-1CF1-68AE-76B3-78D024E6B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25481"/>
              </p:ext>
            </p:extLst>
          </p:nvPr>
        </p:nvGraphicFramePr>
        <p:xfrm>
          <a:off x="335817" y="2157984"/>
          <a:ext cx="4988640" cy="2865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62880">
                  <a:extLst>
                    <a:ext uri="{9D8B030D-6E8A-4147-A177-3AD203B41FA5}">
                      <a16:colId xmlns:a16="http://schemas.microsoft.com/office/drawing/2014/main" val="2965034298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4124081154"/>
                    </a:ext>
                  </a:extLst>
                </a:gridCol>
                <a:gridCol w="1662880">
                  <a:extLst>
                    <a:ext uri="{9D8B030D-6E8A-4147-A177-3AD203B41FA5}">
                      <a16:colId xmlns:a16="http://schemas.microsoft.com/office/drawing/2014/main" val="1591125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Estimate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Number of Controls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Airports only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4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0-1 km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02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0-2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72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0-3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16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0-4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92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5+ km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083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UoM">
  <a:themeElements>
    <a:clrScheme name="UoM ">
      <a:dk1>
        <a:srgbClr val="000000"/>
      </a:dk1>
      <a:lt1>
        <a:srgbClr val="FFFFFF"/>
      </a:lt1>
      <a:dk2>
        <a:srgbClr val="5D2979"/>
      </a:dk2>
      <a:lt2>
        <a:srgbClr val="EEECE1"/>
      </a:lt2>
      <a:accent1>
        <a:srgbClr val="878A8E"/>
      </a:accent1>
      <a:accent2>
        <a:srgbClr val="FDB822"/>
      </a:accent2>
      <a:accent3>
        <a:srgbClr val="EFCA89"/>
      </a:accent3>
      <a:accent4>
        <a:srgbClr val="D3C6E2"/>
      </a:accent4>
      <a:accent5>
        <a:srgbClr val="B3B1B6"/>
      </a:accent5>
      <a:accent6>
        <a:srgbClr val="8253A3"/>
      </a:accent6>
      <a:hlink>
        <a:srgbClr val="000000"/>
      </a:hlink>
      <a:folHlink>
        <a:srgbClr val="0001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8268</TotalTime>
  <Words>419</Words>
  <Application>Microsoft Office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UoM</vt:lpstr>
      <vt:lpstr>Clearing the Air Evaluating the Impact of Leaded Fuel Bans on Ambient Lead Levels at Reid-Hillview Airport</vt:lpstr>
      <vt:lpstr>Motivation &amp; Research Question</vt:lpstr>
      <vt:lpstr>Data &amp; Identification</vt:lpstr>
      <vt:lpstr>Results</vt:lpstr>
      <vt:lpstr>Robustness, Takeaways &amp; Q&amp;A</vt:lpstr>
    </vt:vector>
  </TitlesOfParts>
  <Manager/>
  <Company>The Univeristy of Manchester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UoM template </dc:title>
  <dc:subject/>
  <dc:creator>Design Team</dc:creator>
  <cp:keywords/>
  <dc:description/>
  <cp:lastModifiedBy>Matthew Stibbons</cp:lastModifiedBy>
  <cp:revision>227</cp:revision>
  <dcterms:created xsi:type="dcterms:W3CDTF">2013-11-21T09:06:30Z</dcterms:created>
  <dcterms:modified xsi:type="dcterms:W3CDTF">2026-05-07T09:20:26Z</dcterms:modified>
  <cp:category/>
</cp:coreProperties>
</file>