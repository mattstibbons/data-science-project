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8FD8E-EF51-4F98-AC06-D2B3C2EC2B62}" v="1" dt="2026-05-07T09:22:05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zhe Chen" userId="S::haozhe.chen-2@student.manchester.ac.uk::d5bd5e35-1c25-47bb-b59c-75308619c4a5" providerId="AD" clId="Web-{0CDD0EF2-4AA4-395D-AF63-B8DE02733012}"/>
    <pc:docChg chg="modSld">
      <pc:chgData name="Haozhe Chen" userId="S::haozhe.chen-2@student.manchester.ac.uk::d5bd5e35-1c25-47bb-b59c-75308619c4a5" providerId="AD" clId="Web-{0CDD0EF2-4AA4-395D-AF63-B8DE02733012}" dt="2026-05-05T09:23:09.631" v="9" actId="20577"/>
      <pc:docMkLst>
        <pc:docMk/>
      </pc:docMkLst>
      <pc:sldChg chg="modSp">
        <pc:chgData name="Haozhe Chen" userId="S::haozhe.chen-2@student.manchester.ac.uk::d5bd5e35-1c25-47bb-b59c-75308619c4a5" providerId="AD" clId="Web-{0CDD0EF2-4AA4-395D-AF63-B8DE02733012}" dt="2026-05-05T09:23:09.631" v="9" actId="20577"/>
        <pc:sldMkLst>
          <pc:docMk/>
          <pc:sldMk cId="1366541846" sldId="256"/>
        </pc:sldMkLst>
        <pc:spChg chg="mod">
          <ac:chgData name="Haozhe Chen" userId="S::haozhe.chen-2@student.manchester.ac.uk::d5bd5e35-1c25-47bb-b59c-75308619c4a5" providerId="AD" clId="Web-{0CDD0EF2-4AA4-395D-AF63-B8DE02733012}" dt="2026-05-05T09:23:09.631" v="9" actId="20577"/>
          <ac:spMkLst>
            <pc:docMk/>
            <pc:sldMk cId="1366541846" sldId="256"/>
            <ac:spMk id="3" creationId="{14BDD17C-CA82-FB74-4464-F88BFF9EB386}"/>
          </ac:spMkLst>
        </pc:spChg>
      </pc:sldChg>
    </pc:docChg>
  </pc:docChgLst>
  <pc:docChgLst>
    <pc:chgData name="Matthew Stibbons" userId="ee5ab90a-f6ef-4568-8d06-d738e61cdbd9" providerId="ADAL" clId="{256339C9-532D-4AF2-9813-51A8F91FCD55}"/>
    <pc:docChg chg="addSld modSld">
      <pc:chgData name="Matthew Stibbons" userId="ee5ab90a-f6ef-4568-8d06-d738e61cdbd9" providerId="ADAL" clId="{256339C9-532D-4AF2-9813-51A8F91FCD55}" dt="2026-05-07T09:22:05.513" v="0"/>
      <pc:docMkLst>
        <pc:docMk/>
      </pc:docMkLst>
      <pc:sldChg chg="add">
        <pc:chgData name="Matthew Stibbons" userId="ee5ab90a-f6ef-4568-8d06-d738e61cdbd9" providerId="ADAL" clId="{256339C9-532D-4AF2-9813-51A8F91FCD55}" dt="2026-05-07T09:22:05.513" v="0"/>
        <pc:sldMkLst>
          <pc:docMk/>
          <pc:sldMk cId="0" sldId="257"/>
        </pc:sldMkLst>
      </pc:sldChg>
      <pc:sldChg chg="add">
        <pc:chgData name="Matthew Stibbons" userId="ee5ab90a-f6ef-4568-8d06-d738e61cdbd9" providerId="ADAL" clId="{256339C9-532D-4AF2-9813-51A8F91FCD55}" dt="2026-05-07T09:22:05.513" v="0"/>
        <pc:sldMkLst>
          <pc:docMk/>
          <pc:sldMk cId="0" sldId="258"/>
        </pc:sldMkLst>
      </pc:sldChg>
      <pc:sldChg chg="add">
        <pc:chgData name="Matthew Stibbons" userId="ee5ab90a-f6ef-4568-8d06-d738e61cdbd9" providerId="ADAL" clId="{256339C9-532D-4AF2-9813-51A8F91FCD55}" dt="2026-05-07T09:22:05.513" v="0"/>
        <pc:sldMkLst>
          <pc:docMk/>
          <pc:sldMk cId="0" sldId="259"/>
        </pc:sldMkLst>
      </pc:sldChg>
      <pc:sldChg chg="add">
        <pc:chgData name="Matthew Stibbons" userId="ee5ab90a-f6ef-4568-8d06-d738e61cdbd9" providerId="ADAL" clId="{256339C9-532D-4AF2-9813-51A8F91FCD55}" dt="2026-05-07T09:22:05.513" v="0"/>
        <pc:sldMkLst>
          <pc:docMk/>
          <pc:sldMk cId="0" sldId="260"/>
        </pc:sldMkLst>
      </pc:sldChg>
      <pc:sldChg chg="add">
        <pc:chgData name="Matthew Stibbons" userId="ee5ab90a-f6ef-4568-8d06-d738e61cdbd9" providerId="ADAL" clId="{256339C9-532D-4AF2-9813-51A8F91FCD55}" dt="2026-05-07T09:22:05.513" v="0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5/7/2026</a:t>
            </a:fld>
            <a:endParaRPr lang="en-US" sz="1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47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8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62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8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0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5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3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4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2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0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9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C3BD54-29B9-3D42-B178-776ED395AA85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773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72BA-0AA9-387C-4E19-30B1476E6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706836"/>
            <a:ext cx="10750729" cy="2722164"/>
          </a:xfrm>
        </p:spPr>
        <p:txBody>
          <a:bodyPr>
            <a:normAutofit fontScale="90000"/>
          </a:bodyPr>
          <a:lstStyle/>
          <a:p>
            <a:r>
              <a:rPr lang="en-US" sz="6000" b="1"/>
              <a:t>Clearing the Air:</a:t>
            </a:r>
            <a:r>
              <a:rPr lang="en-US" sz="6000"/>
              <a:t> Evaluating the Impact of Leaded Fuel Bans on Ambient Lead Levels at Reid-Hillview.</a:t>
            </a:r>
            <a:endParaRPr lang="en-GB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DD17C-CA82-FB74-4464-F88BFF9EB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3882844" cy="8829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654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FFFFFF"/>
                </a:solidFill>
              </a:rPr>
              <a:t>Clearing the Air</a:t>
            </a:r>
          </a:p>
          <a:p>
            <a:pPr>
              <a:spcBef>
                <a:spcPts val="600"/>
              </a:spcBef>
            </a:pPr>
            <a:r>
              <a:rPr sz="2200" b="0" i="0">
                <a:solidFill>
                  <a:srgbClr val="FFFFFF"/>
                </a:solidFill>
              </a:rPr>
              <a:t>Evaluating the Impact of Leaded Fuel Bans on</a:t>
            </a:r>
          </a:p>
          <a:p>
            <a:r>
              <a:rPr sz="2200" b="0" i="0">
                <a:solidFill>
                  <a:srgbClr val="FFFFFF"/>
                </a:solidFill>
              </a:rPr>
              <a:t>Ambient Lead Levels at Reid-Hillview Airport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84" y="4509120"/>
            <a:ext cx="8897540" cy="1752600"/>
          </a:xfrm>
        </p:spPr>
        <p:txBody>
          <a:bodyPr wrap="square"/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ECON62020  </a:t>
            </a:r>
            <a:endParaRPr lang="en-US" sz="1600" b="1" i="0" dirty="0">
              <a:solidFill>
                <a:srgbClr val="FFFFFF"/>
              </a:solidFill>
            </a:endParaRPr>
          </a:p>
          <a:p>
            <a:pPr algn="l"/>
            <a:r>
              <a:rPr sz="1600" b="1" i="0" dirty="0">
                <a:solidFill>
                  <a:srgbClr val="FFFFFF"/>
                </a:solidFill>
              </a:rPr>
              <a:t>Group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Motivation &amp; Research Question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dirty="0">
                <a:solidFill>
                  <a:srgbClr val="660099"/>
                </a:solidFill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303520" cy="2699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Lead is a developmental neurotoxin with no safe exposure level (CDC, 2021).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Leaded avgas (100LL) is the largest remaining source of airborne Pb in the U.S. (EPA, 2022).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Reid-Hillview (RHV), San Jose, became the </a:t>
            </a:r>
            <a:r>
              <a:rPr sz="1300" b="1" i="0" dirty="0">
                <a:solidFill>
                  <a:srgbClr val="4A006E"/>
                </a:solidFill>
              </a:rPr>
              <a:t>first U.S. GA airport to ban leaded fuel</a:t>
            </a:r>
            <a:r>
              <a:rPr sz="1300" b="0" i="0" dirty="0">
                <a:solidFill>
                  <a:srgbClr val="333333"/>
                </a:solidFill>
              </a:rPr>
              <a:t> (Jan 2022).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Hollingsworth &amp; Rudik (2021) showed Pb travels up to 4km from airports  our radius choice.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91640"/>
            <a:ext cx="5715000" cy="4206240"/>
          </a:xfrm>
          <a:prstGeom prst="rect">
            <a:avLst/>
          </a:prstGeom>
          <a:solidFill>
            <a:srgbClr val="F5F1F8"/>
          </a:solidFill>
          <a:ln w="127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5257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25780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 i="0" dirty="0">
                <a:solidFill>
                  <a:srgbClr val="1A1A1A"/>
                </a:solidFill>
              </a:rPr>
              <a:t>Did the 2022 leaded-fuel ban at Reid-Hillview reduce ambient lead concentrations, relative to non-banning U.S. airports?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5257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>
                <a:solidFill>
                  <a:srgbClr val="660099"/>
                </a:solidFill>
              </a:rPr>
              <a:t>SUB-QUESTIONS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52578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333333"/>
                </a:solidFill>
              </a:rPr>
              <a:t>•  Is the effect robust to monitor radius (1, </a:t>
            </a:r>
            <a:r>
              <a:rPr lang="en-US" sz="1200" b="0" i="0" dirty="0">
                <a:solidFill>
                  <a:srgbClr val="333333"/>
                </a:solidFill>
              </a:rPr>
              <a:t>2, </a:t>
            </a:r>
            <a:r>
              <a:rPr sz="1200" b="0" i="0" dirty="0">
                <a:solidFill>
                  <a:srgbClr val="333333"/>
                </a:solidFill>
              </a:rPr>
              <a:t>3, 4 km)?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Data &amp; Identification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8328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5488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EPA AQS 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23160"/>
            <a:ext cx="3442208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Daily lead concentrations at U.S. monitors near airports. 2012–2025. Aggregated to monthly means.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736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4896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896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RHV ban (Jan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4896" y="2366676"/>
            <a:ext cx="3442208" cy="883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333333"/>
                </a:solidFill>
              </a:rPr>
              <a:t>Reid-Hillview</a:t>
            </a:r>
            <a:r>
              <a:rPr lang="en-US" sz="1100" b="0" i="0" dirty="0">
                <a:solidFill>
                  <a:srgbClr val="333333"/>
                </a:solidFill>
              </a:rPr>
              <a:t>. </a:t>
            </a:r>
            <a:r>
              <a:rPr sz="1100" b="0" i="0" dirty="0">
                <a:solidFill>
                  <a:srgbClr val="333333"/>
                </a:solidFill>
              </a:rPr>
              <a:t>All other U.S.  airports with monitor coverage form the </a:t>
            </a:r>
            <a:r>
              <a:rPr lang="en-US" sz="1100" b="0" i="0" dirty="0">
                <a:solidFill>
                  <a:srgbClr val="333333"/>
                </a:solidFill>
              </a:rPr>
              <a:t>pool of potential controls</a:t>
            </a:r>
            <a:endParaRPr lang="en-US" sz="11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Only 3 monitors within 1km of airports have continuous 2000–2025 data -&gt;  no clean control group.</a:t>
            </a:r>
          </a:p>
          <a:p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37144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4304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4304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NCEP Reanalysis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304" y="2341599"/>
            <a:ext cx="3442208" cy="5447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Daily air temp, wind speed, humidity, pressure (sigma 995). Spatial join to monitors.</a:t>
            </a:r>
            <a:r>
              <a:rPr lang="en-US" sz="1100" b="0" i="0" dirty="0">
                <a:solidFill>
                  <a:srgbClr val="333333"/>
                </a:solidFill>
              </a:rPr>
              <a:t> </a:t>
            </a:r>
          </a:p>
          <a:p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11515344" cy="2834640"/>
          </a:xfrm>
          <a:prstGeom prst="rect">
            <a:avLst/>
          </a:prstGeom>
          <a:solidFill>
            <a:srgbClr val="F5F1F8"/>
          </a:solidFill>
          <a:ln w="127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 lang="en-US" b="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548640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dirty="0">
                <a:solidFill>
                  <a:srgbClr val="660099"/>
                </a:solidFill>
              </a:rPr>
              <a:t>IDENTIFICATION </a:t>
            </a:r>
            <a:r>
              <a:rPr lang="en-US" sz="1100" b="1" dirty="0">
                <a:solidFill>
                  <a:srgbClr val="660099"/>
                </a:solidFill>
              </a:rPr>
              <a:t>STRATEGY</a:t>
            </a:r>
            <a:endParaRPr sz="1100" b="1" i="0" dirty="0">
              <a:solidFill>
                <a:srgbClr val="66009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084BD7-B346-21DC-63AF-1041E5837049}"/>
                  </a:ext>
                </a:extLst>
              </p:cNvPr>
              <p:cNvSpPr txBox="1"/>
              <p:nvPr/>
            </p:nvSpPr>
            <p:spPr>
              <a:xfrm>
                <a:off x="767408" y="3822184"/>
                <a:ext cx="1029714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𝐿𝑒𝑎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𝑇𝑟𝑒𝑎𝑡𝑒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en-US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𝐿𝑒𝑎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GB" dirty="0"/>
                  <a:t>is the log of the arithmetic mean of ambient lead concentration at monitor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𝑇𝑟𝑒𝑎𝑡𝑒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 is a dummy =1 if monitor is Reid Hillview and date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dirty="0"/>
                  <a:t> 2022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 is a vector of weather controls: Temperature, Wind Speed and direction, Humidity, Pressure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are monitor fixed effects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captures time fixed effects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084BD7-B346-21DC-63AF-1041E583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3822184"/>
                <a:ext cx="10297144" cy="2862322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257" y="350426"/>
            <a:ext cx="11506799" cy="1128839"/>
          </a:xfrm>
        </p:spPr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Results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857948D-13FC-EAFE-8DB3-28A8F1A37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48" y="1340769"/>
            <a:ext cx="5360297" cy="4320480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68CD1C1-14CC-0728-9B9A-8BB080952080}"/>
              </a:ext>
            </a:extLst>
          </p:cNvPr>
          <p:cNvGraphicFramePr>
            <a:graphicFrameLocks noGrp="1"/>
          </p:cNvGraphicFramePr>
          <p:nvPr/>
        </p:nvGraphicFramePr>
        <p:xfrm>
          <a:off x="675313" y="2559337"/>
          <a:ext cx="4988640" cy="1010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2880">
                  <a:extLst>
                    <a:ext uri="{9D8B030D-6E8A-4147-A177-3AD203B41FA5}">
                      <a16:colId xmlns:a16="http://schemas.microsoft.com/office/drawing/2014/main" val="357104987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2295857429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392463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Estimate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 of Controls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33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Airports only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70426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07DA32B-872B-2D3E-8FB0-4EB130F4F769}"/>
              </a:ext>
            </a:extLst>
          </p:cNvPr>
          <p:cNvSpPr txBox="1"/>
          <p:nvPr/>
        </p:nvSpPr>
        <p:spPr>
          <a:xfrm>
            <a:off x="121633" y="55172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</a:rPr>
              <a:t>Note: 0-1km refers to the specification for which only monitors within a 1km radius of an airport were used in the control group </a:t>
            </a:r>
            <a:endParaRPr lang="en-GB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660099"/>
                </a:solidFill>
              </a:rPr>
              <a:t>Robustness, Takeaways &amp; Q&amp;A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328" y="16459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ROBUSTNESS — RADIUS SENSITIVITY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164592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TAKEAWAYS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01168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1" y="201168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Method that fits the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2304288"/>
            <a:ext cx="56235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……</a:t>
            </a:r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35040" y="310896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99631" y="310896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First evidence on a 100LL ban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1" y="3401568"/>
            <a:ext cx="562356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Quantifies what a real-world leaded-fuel ban delivers in ambient Pb — informing FAA’s 2030 phase-out.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20624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9631" y="420624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Honest about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4498848"/>
            <a:ext cx="56235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100" b="0" i="0" dirty="0">
                <a:solidFill>
                  <a:srgbClr val="333333"/>
                </a:solidFill>
              </a:rPr>
              <a:t>…..</a:t>
            </a:r>
            <a:r>
              <a:rPr sz="11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" y="5577840"/>
            <a:ext cx="11515344" cy="64008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" y="5696712"/>
            <a:ext cx="11515344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Any </a:t>
            </a:r>
            <a:r>
              <a:rPr sz="2200" b="1" i="0" dirty="0">
                <a:solidFill>
                  <a:srgbClr val="FFFFFF"/>
                </a:solidFill>
              </a:rPr>
              <a:t>Questions?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A62FA-1CF1-68AE-76B3-78D024E6BDEC}"/>
              </a:ext>
            </a:extLst>
          </p:cNvPr>
          <p:cNvGraphicFramePr>
            <a:graphicFrameLocks noGrp="1"/>
          </p:cNvGraphicFramePr>
          <p:nvPr/>
        </p:nvGraphicFramePr>
        <p:xfrm>
          <a:off x="335817" y="2157984"/>
          <a:ext cx="4988640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2880">
                  <a:extLst>
                    <a:ext uri="{9D8B030D-6E8A-4147-A177-3AD203B41FA5}">
                      <a16:colId xmlns:a16="http://schemas.microsoft.com/office/drawing/2014/main" val="2965034298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4124081154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1591125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Estimate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 of Controls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Airports only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4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0-1 km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02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0-2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7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0-3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16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0-4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92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5+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83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437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Retrospect</vt:lpstr>
      <vt:lpstr>Clearing the Air: Evaluating the Impact of Leaded Fuel Bans on Ambient Lead Levels at Reid-Hillview.</vt:lpstr>
      <vt:lpstr>Clearing the Air Evaluating the Impact of Leaded Fuel Bans on Ambient Lead Levels at Reid-Hillview Airport</vt:lpstr>
      <vt:lpstr>Motivation &amp; Research Question</vt:lpstr>
      <vt:lpstr>Data &amp; Identification</vt:lpstr>
      <vt:lpstr>Results</vt:lpstr>
      <vt:lpstr>Robustness, Takeaways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Stibbons</dc:creator>
  <cp:lastModifiedBy>Matthew Stibbons</cp:lastModifiedBy>
  <cp:revision>1</cp:revision>
  <dcterms:created xsi:type="dcterms:W3CDTF">2026-05-05T09:10:58Z</dcterms:created>
  <dcterms:modified xsi:type="dcterms:W3CDTF">2026-05-07T09:22:12Z</dcterms:modified>
</cp:coreProperties>
</file>